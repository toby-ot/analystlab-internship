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07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ank_ppt/icons/landmark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8869680" y="45720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Marketing Campaign Insights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5204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Converts, and Why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43434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  |  AnalystLab Africa Data Analytics Internship — Week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Tobiloba Osikoya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692640" y="411480"/>
            <a:ext cx="1371600" cy="13716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4" name="Image 0" descr="/home/claude/bank_ppt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6858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6949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bank's marketing team runs telephone campaigns to sell term deposits, but conversion rates are inconsistent across customer segments.
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identifies which customer characteristics and campaign approaches are most associated with subscription — so marketing can prioritize outreach, reduce wasted contact effort, and improve overall campaign efficiency.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955280" y="21945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24231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C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11,162 </a:t>
            </a: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surveyed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</a:t>
            </a: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tracked per customer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actionable conversion drivers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C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Bank Marketing Dataset — direct phone-call term deposit campaigns run by a Portuguese retail bank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11,162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965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14600" y="2651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Tracked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965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0" y="2651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Conversion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duplicate rows were found. “Unknown” entries in job, education, contact, and previous-outcome fields were kept as their own category rather than imputed, since they likely reflect gaps in data collection rather than a real customer behavior.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1097280"/>
            <a:ext cx="4846320" cy="5074920"/>
          </a:xfrm>
          <a:prstGeom prst="rect">
            <a:avLst/>
          </a:prstGeom>
          <a:solidFill>
            <a:srgbClr val="E9ECF1"/>
          </a:solidFill>
          <a:ln w="12700">
            <a:solidFill>
              <a:srgbClr val="B9C2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03720" y="31318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 SCREENSHOT PLACEHOLDER
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Screenshot: Balance or Age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Chart]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5715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Jupyter notebook EDA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3DDB30-0E42-D441-952B-9A42A5753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32381"/>
            <a:ext cx="5014395" cy="51398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Tools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C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workflow bridging analysis and storytelling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60220" y="2103120"/>
            <a:ext cx="1188720" cy="11887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5" name="Image 0" descr="/home/claude/bank_ppt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23317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204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(Jupyter)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exploratory analysis, and key-driver identification using pandas, seaborn, and correlation analysis.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87368" y="2194560"/>
            <a:ext cx="292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509260" y="2103120"/>
            <a:ext cx="1188720" cy="11887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0" name="Image 1" descr="/home/claude/bank_ppt/icons/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233172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35204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389120" y="4023360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translating the analysis into visuals stakeholders can explore and filter directly.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836408" y="2194560"/>
            <a:ext cx="292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9258300" y="2103120"/>
            <a:ext cx="1188720" cy="11887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5" name="Image 2" descr="/home/claude/bank_ppt/icons/p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0" y="233172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35204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138160" y="4023360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stakeholder-ready presentation summarizing findings, insights, and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Visualizations — Power BI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08792" cy="5120640"/>
          </a:xfrm>
          <a:prstGeom prst="rect">
            <a:avLst/>
          </a:prstGeom>
          <a:solidFill>
            <a:srgbClr val="E9ECF1"/>
          </a:solidFill>
          <a:ln w="12700">
            <a:solidFill>
              <a:srgbClr val="B9C2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22960" y="32918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 SCREENSHOT PLACEHOLDER
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Screenshot: Full Power BI Dashboard]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58978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 Marketing Campaign Insights: Who Converts and Why?”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98DCED-9F17-620F-F991-288043EA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56" y="1219855"/>
            <a:ext cx="11046778" cy="52193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Signals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440680" cy="2377440"/>
          </a:xfrm>
          <a:prstGeom prst="rect">
            <a:avLst/>
          </a:prstGeom>
          <a:solidFill>
            <a:srgbClr val="E9ECF1"/>
          </a:solidFill>
          <a:ln w="12700">
            <a:solidFill>
              <a:srgbClr val="B9C2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 SCREENSHOT PLACEHOLDER
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Prior Success =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Conversion]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62472" y="1234440"/>
            <a:ext cx="5440680" cy="2377440"/>
          </a:xfrm>
          <a:prstGeom prst="rect">
            <a:avLst/>
          </a:prstGeom>
          <a:solidFill>
            <a:srgbClr val="E9ECF1"/>
          </a:solidFill>
          <a:ln w="12700">
            <a:solidFill>
              <a:srgbClr val="B9C2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45352" y="192024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 SCREENSHOT PLACEHOLDER
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Students &amp; Retirees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Most]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5440680" cy="2377440"/>
          </a:xfrm>
          <a:prstGeom prst="rect">
            <a:avLst/>
          </a:prstGeom>
          <a:solidFill>
            <a:srgbClr val="E9ECF1"/>
          </a:solidFill>
          <a:ln w="12700">
            <a:solidFill>
              <a:srgbClr val="B9C2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 SCREENSHOT PLACEHOLDER
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More Contacts,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Conversion]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2472" y="3749040"/>
            <a:ext cx="5440680" cy="2377440"/>
          </a:xfrm>
          <a:prstGeom prst="rect">
            <a:avLst/>
          </a:prstGeom>
          <a:solidFill>
            <a:srgbClr val="E9ECF1"/>
          </a:solidFill>
          <a:ln w="12700">
            <a:solidFill>
              <a:srgbClr val="B9C2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45352" y="443484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 SCREENSHOT PLACEHOLDER
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Correlation Heatmap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Python/Jupyter)]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CC0989-1290-78BD-4808-032DFC4FA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234440"/>
            <a:ext cx="5422393" cy="23774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28E2B7-7650-D9AA-8BF1-E187F299E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202480"/>
            <a:ext cx="5440680" cy="2409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63F268-B26B-BF78-F6C9-67D9C87C3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78" y="3634615"/>
            <a:ext cx="5422393" cy="24996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0C69D0-FDCC-7EC8-E3DC-4CF28039A2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3643840"/>
            <a:ext cx="5461964" cy="24996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058400" y="365760"/>
            <a:ext cx="1005840" cy="1005840"/>
          </a:xfrm>
          <a:prstGeom prst="ellipse">
            <a:avLst/>
          </a:prstGeom>
          <a:solidFill>
            <a:srgbClr val="E9B44C"/>
          </a:solidFill>
          <a:ln/>
        </p:spPr>
      </p:sp>
      <p:pic>
        <p:nvPicPr>
          <p:cNvPr id="4" name="Image 0" descr="/home/claude/bank_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585216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45920" y="1527048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contact history is the strongest driver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a successful previous campaign outcome convert at over 90%, far above the ~47% baseline.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2715768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load shapes conversion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a housing or personal loan convert markedly more than those carrying either — likely reflecting financial flexibility.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45920" y="3904488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 and marital status matter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retirees, and single customers convert above average; married, blue-collar, and entrepreneur segments convert below it.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45920" y="5093208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contact backfires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contact attempts within a single campaign correlate with lower conversion (r = -0.13) — suggesting diminishing returns from over-calling.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058400" y="365760"/>
            <a:ext cx="1005840" cy="10058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4" name="Image 0" descr="/home/claude/bank_ppt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585216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45920" y="1527048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singles &amp; debt-free customers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outreach on segments converting well above baseline (54–67%) rather than treating all customers equally.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2715768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previously successful contacts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90%+ conversion among prior successes, make re-engagement a standing priority in every campaign cycle.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45920" y="3904488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contact attempts at 2–3 per campaign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over-calling — additional attempts are associated with lower, not higher, conversion.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45920" y="5093208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first-time contacts by job, marital &amp; loan status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largest segment (no prior outcome signal), lean on demographic and financial indicators to prioritize outreach.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deposit conversion is shaped less by chance and more by financial readiness, prior relationship, and contact strategy. By prioritizing debt-free and previously engaged customers, and capping repeated outreach, marketing can improve conversion efficiency without increasing campaign volume.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targeting turns a broad calling campaign into a focused, higher-converting one.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Tobiloba Osikoya  |  AnalystLab Africa Data Analytics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653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Tobiloba Osikoya</cp:lastModifiedBy>
  <cp:revision>2</cp:revision>
  <dcterms:created xsi:type="dcterms:W3CDTF">2026-08-03T11:08:50Z</dcterms:created>
  <dcterms:modified xsi:type="dcterms:W3CDTF">2026-08-03T11:22:23Z</dcterms:modified>
</cp:coreProperties>
</file>