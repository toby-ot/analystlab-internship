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7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9712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22960" y="26974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ANALYSIS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– 2023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5120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&amp; Dashboarding — Week 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486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Data Analytics Internship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Tobiloba Osikoya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418320" y="-1371600"/>
            <a:ext cx="4114800" cy="4114800"/>
          </a:xfrm>
          <a:prstGeom prst="ellipse">
            <a:avLst/>
          </a:prstGeom>
          <a:solidFill>
            <a:srgbClr val="1E8F89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0" y="4572000"/>
            <a:ext cx="2743200" cy="2743200"/>
          </a:xfrm>
          <a:prstGeom prst="ellipse">
            <a:avLst/>
          </a:prstGeom>
          <a:solidFill>
            <a:srgbClr val="E07A3E">
              <a:alpha val="12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</a:rPr>
              <a:t>Source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CSSE COVID-19 time-series data (Johns Hopkins), pulled directly from GitHub.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4F6F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06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cumulative case counts by country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246888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4F6F8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2606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29718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cumulative death counts by country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246888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4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2606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75320" y="29718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cumulative recoveries (discontinued Aug 2021)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4160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</a:rPr>
              <a:t>Timeframe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480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22, 2020 – March 9, 2023, across 190+ countries and territories.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983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</a:rPr>
              <a:t>Preparation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5303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Unpivoted from wide to long format in Power Query, then joined into a single fact table on Country/Region + Date.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health data is scattered across separate files and difficult to interpret at a glance.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10881360" cy="3291840"/>
          </a:xfrm>
          <a:prstGeom prst="roundRect">
            <a:avLst>
              <a:gd name="adj" fmla="val 2222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880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</a:rPr>
              <a:t>Goal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single interactive dashboard that lets a decision-maker: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703320"/>
            <a:ext cx="9784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global spread patterns at a glance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country-level outcomes side by side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high-impact waves and turning points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all of this without digging through raw CSV files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Defined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109728" cy="1554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40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Confirmed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97680" y="169164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4297680" y="1691640"/>
            <a:ext cx="109728" cy="1554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2240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Deaths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46720" y="169164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/>
        </p:spPr>
      </p:sp>
      <p:sp>
        <p:nvSpPr>
          <p:cNvPr id="11" name="Shape 9"/>
          <p:cNvSpPr/>
          <p:nvPr/>
        </p:nvSpPr>
        <p:spPr>
          <a:xfrm>
            <a:off x="8046720" y="1691640"/>
            <a:ext cx="109728" cy="1554480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12" name="Text 10"/>
          <p:cNvSpPr/>
          <p:nvPr/>
        </p:nvSpPr>
        <p:spPr>
          <a:xfrm>
            <a:off x="8366760" y="2240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Recovered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520440"/>
            <a:ext cx="109728" cy="1554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069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Rate 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97680" y="352044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/>
        </p:spPr>
      </p:sp>
      <p:sp>
        <p:nvSpPr>
          <p:cNvPr id="17" name="Shape 15"/>
          <p:cNvSpPr/>
          <p:nvPr/>
        </p:nvSpPr>
        <p:spPr>
          <a:xfrm>
            <a:off x="4297680" y="3520440"/>
            <a:ext cx="109728" cy="1554480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4069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 %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46720" y="352044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0" y="3520440"/>
            <a:ext cx="109728" cy="1554480"/>
          </a:xfrm>
          <a:prstGeom prst="rect">
            <a:avLst/>
          </a:prstGeom>
          <a:solidFill>
            <a:srgbClr val="1E8F89"/>
          </a:solidFill>
          <a:ln/>
        </p:spPr>
      </p:sp>
      <p:sp>
        <p:nvSpPr>
          <p:cNvPr id="21" name="Text 19"/>
          <p:cNvSpPr/>
          <p:nvPr/>
        </p:nvSpPr>
        <p:spPr>
          <a:xfrm>
            <a:off x="8366760" y="4069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New Cases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55321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New Cases doubles as the wave-detection metric — it's the clearest signal of when transmission accelerated.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881360" cy="4572000"/>
          </a:xfrm>
          <a:prstGeom prst="roundRect">
            <a:avLst>
              <a:gd name="adj" fmla="val 1600"/>
            </a:avLst>
          </a:prstGeom>
          <a:solidFill>
            <a:srgbClr val="F4F6F8"/>
          </a:solidFill>
          <a:ln w="19050">
            <a:solidFill>
              <a:srgbClr val="C7CDD6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" y="35661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FULL DASHBOARD SCREENSHOT HERE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</a:rPr>
              <a:t>5</a:t>
            </a: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4798A1-A15D-FBF2-2D5F-225754C65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454" y="1522728"/>
            <a:ext cx="10982680" cy="46381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Detail — Map &amp; Country Comparison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881360" cy="4572000"/>
          </a:xfrm>
          <a:prstGeom prst="roundRect">
            <a:avLst>
              <a:gd name="adj" fmla="val 1600"/>
            </a:avLst>
          </a:prstGeom>
          <a:solidFill>
            <a:srgbClr val="F4F6F8"/>
          </a:solidFill>
          <a:ln w="19050">
            <a:solidFill>
              <a:srgbClr val="C7CDD6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" y="35661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ZOOMED SCREENSHOT HERE (e.g. map or rate comparison chart)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</a:rPr>
              <a:t>6</a:t>
            </a: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56B720-A86C-F664-188C-B60026E89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25" y="1492371"/>
            <a:ext cx="11072538" cy="46837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554480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 recorded the highest total confirmed cases (104M) — more than double India's 45M, despite India's far larger population.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770632"/>
            <a:ext cx="502920" cy="502920"/>
          </a:xfrm>
          <a:prstGeom prst="ellipse">
            <a:avLst/>
          </a:prstGeom>
          <a:solidFill>
            <a:srgbClr val="E07A3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70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724912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daily cases peaked sharply in January 2022 (Omicron wave) — the largest spike in the dataset, far exceeding the original 2020 wave.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941064"/>
            <a:ext cx="502920" cy="502920"/>
          </a:xfrm>
          <a:prstGeom prst="ellipse">
            <a:avLst/>
          </a:prstGeom>
          <a:solidFill>
            <a:srgbClr val="1E8F89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9410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895344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 % varies widely by country (India ~70%, US near 0%) — this reflects inconsistent reporting and the Recovered dataset being discontinued after Aug 2021, not true differences in patient outcomes.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5111496"/>
            <a:ext cx="502920" cy="50292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1114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5065776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Rate % was notably lower in the UK, France, Japan, and South Korea compared to Brazil, Russia, and India.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00200" y="1920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 any cross-country Recovery Rate % comparison with the Aug 2021 data cutoff to avoid misleading conclusions.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38328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600200" y="33375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datasets with continuous maintenance guarantees for dashboards tracking ongoing health crises.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80060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600200" y="47548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Jan 2022 spike pattern to model healthcare capacity planning around future wave-driven surges.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202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failures from column order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3017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three wide-format CSVs required unpivoting each, then joining on matching keys — a mismatched join-column order caused a silent merge failure.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169164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F4F6F8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19202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Inflated KPI totals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26280" y="2788920"/>
            <a:ext cx="3017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measures summed the cumulative column across every date row, inflating totals by orders of magnitude. Fixed by shifting to point-in-time measures.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169164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F4F6F8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19202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Discontinued Recovered data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75320" y="2788920"/>
            <a:ext cx="3017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Recovered dataset stops updating in Aug 2021, requiring logic to capture the last valid data point rather than defaulting to zero.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058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 three disconnected raw datasets into a single interactive view of global COVID-19 spread, mortality, and recovery trends.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in Power BI, with drill-down filtering by date and country.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learning: data storytelling isn't just clean visuals — it also means surfacing where the data itself has gaps or limitations.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56692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418320" y="-1371600"/>
            <a:ext cx="4114800" cy="4114800"/>
          </a:xfrm>
          <a:prstGeom prst="ellipse">
            <a:avLst/>
          </a:prstGeom>
          <a:solidFill>
            <a:srgbClr val="1E8F89">
              <a:alpha val="15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577</Words>
  <Application>Microsoft Office PowerPoint</Application>
  <PresentationFormat>Widescreen</PresentationFormat>
  <Paragraphs>93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Tobiloba Osikoya</cp:lastModifiedBy>
  <cp:revision>2</cp:revision>
  <dcterms:created xsi:type="dcterms:W3CDTF">2026-07-28T09:46:55Z</dcterms:created>
  <dcterms:modified xsi:type="dcterms:W3CDTF">2026-07-28T10:02:12Z</dcterms:modified>
</cp:coreProperties>
</file>